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2"/>
  </p:notesMasterIdLst>
  <p:handoutMasterIdLst>
    <p:handoutMasterId r:id="rId13"/>
  </p:handoutMasterIdLst>
  <p:sldIdLst>
    <p:sldId id="262" r:id="rId2"/>
    <p:sldId id="258" r:id="rId3"/>
    <p:sldId id="263" r:id="rId4"/>
    <p:sldId id="259" r:id="rId5"/>
    <p:sldId id="264" r:id="rId6"/>
    <p:sldId id="265" r:id="rId7"/>
    <p:sldId id="266" r:id="rId8"/>
    <p:sldId id="267" r:id="rId9"/>
    <p:sldId id="268" r:id="rId10"/>
    <p:sldId id="260" r:id="rId11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48" autoAdjust="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7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517C7B7-34F5-4531-9889-28687F60FAC8}" type="datetime1">
              <a:rPr lang="pt-BR" smtClean="0"/>
              <a:t>25/08/2026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3EC75-555C-481D-9088-738CE6DDFC83}" type="datetime1">
              <a:rPr lang="pt-BR" smtClean="0"/>
              <a:pPr/>
              <a:t>25/08/2026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339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B8D91-F147-AF94-CEA7-32D2F6835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47B91E1-169A-D1EF-A6A6-7E414DCC1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533B172-7416-9393-0B52-9430CF751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03F331F-667C-1F86-F755-AF0341662E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026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AF5B136-74F1-42D3-987D-A097EEF8F2FE}" type="datetime1">
              <a:rPr lang="pt-BR" noProof="0" smtClean="0"/>
              <a:t>25/08/2026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04AF3F4-81C7-4F15-8991-6D0E8D06651A}" type="datetime1">
              <a:rPr lang="pt-BR" noProof="0" smtClean="0"/>
              <a:t>25/08/2026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E2946E4-8964-43BF-B1D5-4261B83248E5}" type="datetime1">
              <a:rPr lang="pt-BR" noProof="0" smtClean="0"/>
              <a:t>25/08/2026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C9F420-083C-437A-9265-7F13EB97C6A2}" type="datetime1">
              <a:rPr lang="pt-BR" noProof="0" smtClean="0"/>
              <a:t>25/08/2026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07AF20-ED70-4B21-B799-75BB5818AB43}" type="datetime1">
              <a:rPr lang="pt-BR" noProof="0" smtClean="0"/>
              <a:t>25/08/2026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D33D876-8C34-42FC-BFF7-457557B97BB7}" type="datetime1">
              <a:rPr lang="pt-BR" noProof="0" smtClean="0"/>
              <a:t>25/08/2026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7" name="Retâ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92437E-206F-4A1C-947F-806A50A40B88}" type="datetime1">
              <a:rPr lang="pt-BR" noProof="0" smtClean="0"/>
              <a:t>25/08/2026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036DDBC-F1EF-4D09-A533-5995BC167053}" type="datetime1">
              <a:rPr lang="pt-BR" noProof="0" smtClean="0"/>
              <a:t>25/08/2026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FDDC01-A1CF-4C3A-BE96-FBC60101324D}" type="datetime1">
              <a:rPr lang="pt-BR" noProof="0" smtClean="0"/>
              <a:t>25/08/2026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229B074-15EB-43FB-8347-3A734D799093}" type="datetime1">
              <a:rPr lang="pt-BR" noProof="0" smtClean="0"/>
              <a:t>25/08/2026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36303E3-8DE9-4C2D-91EE-6F377AE582A8}" type="datetime1">
              <a:rPr lang="pt-BR" noProof="0" smtClean="0"/>
              <a:t>25/08/2026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52266794-2CD5-4ED3-94F8-8B8DC65FDDE3}" type="datetime1">
              <a:rPr lang="pt-BR" noProof="0" smtClean="0"/>
              <a:t>25/08/2026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Retâ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162B7-6F06-86F4-847F-A211F5845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C3B739-4CC6-D48B-7DE9-F959FE5F1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 descr="Conexões Digitais">
            <a:extLst>
              <a:ext uri="{FF2B5EF4-FFF2-40B4-BE49-F238E27FC236}">
                <a16:creationId xmlns:a16="http://schemas.microsoft.com/office/drawing/2014/main" id="{29BD2733-21C9-49AE-7B1E-7E3CAE8E026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4E65B1F5-9851-DD6E-178C-8236BFBF9491}"/>
              </a:ext>
            </a:extLst>
          </p:cNvPr>
          <p:cNvSpPr/>
          <p:nvPr/>
        </p:nvSpPr>
        <p:spPr>
          <a:xfrm>
            <a:off x="1094462" y="702156"/>
            <a:ext cx="10003073" cy="17942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600" dirty="0">
              <a:solidFill>
                <a:schemeClr val="bg1"/>
              </a:solidFill>
            </a:endParaRPr>
          </a:p>
          <a:p>
            <a:pPr algn="ctr"/>
            <a:r>
              <a:rPr lang="pt-BR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de Controle de Clientes e Pedidos (PROTOTECH ERP)</a:t>
            </a:r>
          </a:p>
          <a:p>
            <a:pPr algn="ctr"/>
            <a:r>
              <a:rPr lang="pt-BR" sz="2000" dirty="0">
                <a:solidFill>
                  <a:srgbClr val="7CEB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Projeto 2 – Sistemas Computacionais  Web (Spring Boot + MVC)</a:t>
            </a:r>
          </a:p>
          <a:p>
            <a:pPr algn="ctr"/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DA1996D-1FA8-E88E-BD38-FD28072A7CA8}"/>
              </a:ext>
            </a:extLst>
          </p:cNvPr>
          <p:cNvSpPr txBox="1"/>
          <p:nvPr/>
        </p:nvSpPr>
        <p:spPr>
          <a:xfrm>
            <a:off x="1094462" y="4215330"/>
            <a:ext cx="5758821" cy="1754326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Instituição: CETAM –Instituto Benjamin Constant (IBC)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Orientador: Prof. Cleverson Silva Sobrinho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Equipe:  Ana Kelley Carril de Paula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       Elano Barros Serrão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      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Izhac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Nylton Silva Santos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       Victor Emanuel Souza de Oliveira</a:t>
            </a:r>
          </a:p>
        </p:txBody>
      </p:sp>
    </p:spTree>
    <p:extLst>
      <p:ext uri="{BB962C8B-B14F-4D97-AF65-F5344CB8AC3E}">
        <p14:creationId xmlns:p14="http://schemas.microsoft.com/office/powerpoint/2010/main" val="890313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Espaço Reservado para Conteúdo 4" descr="Números Digitais">
            <a:extLst>
              <a:ext uri="{FF2B5EF4-FFF2-40B4-BE49-F238E27FC236}">
                <a16:creationId xmlns:a16="http://schemas.microsoft.com/office/drawing/2014/main" id="{BFB9867E-84A0-E0A2-D2E8-8242A2FC4B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448574" y="2050794"/>
            <a:ext cx="11329813" cy="434287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772" y="802257"/>
            <a:ext cx="11029616" cy="611222"/>
          </a:xfrm>
        </p:spPr>
        <p:txBody>
          <a:bodyPr rtlCol="0">
            <a:normAutofit fontScale="90000"/>
          </a:bodyPr>
          <a:lstStyle/>
          <a:p>
            <a:pPr rtl="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Projeto 2 – Sistema de Controle de clientes e PEDIDOS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7EA9F0-EE9E-C88A-128A-09572B2A1931}"/>
              </a:ext>
            </a:extLst>
          </p:cNvPr>
          <p:cNvSpPr txBox="1"/>
          <p:nvPr/>
        </p:nvSpPr>
        <p:spPr>
          <a:xfrm>
            <a:off x="1180093" y="2692244"/>
            <a:ext cx="9861717" cy="226215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que é PROTOTECH?</a:t>
            </a:r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ProtoTech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ERP é um Sistema de Software Integrado de Gestão de Vendas e Controle de Estoque (ERP). O objetivo principal dele é digitalizar e automatizar o fluxo de ponta a ponta de uma pequena ou média empresa:</a:t>
            </a:r>
          </a:p>
          <a:p>
            <a:pPr algn="just"/>
            <a:endParaRPr lang="pt-B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34701-6C57-2201-ACCD-98F5D146E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5F8FB-8A5A-0E02-2603-B3580DE85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772" y="802257"/>
            <a:ext cx="11029616" cy="611222"/>
          </a:xfrm>
        </p:spPr>
        <p:txBody>
          <a:bodyPr rtlCol="0">
            <a:normAutofit fontScale="90000"/>
          </a:bodyPr>
          <a:lstStyle/>
          <a:p>
            <a:pPr rtl="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Projeto 2 – Sistema de Controle de clientes e PEDIDOS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4CA4E6A-7F8B-DD0B-C6E9-186E8DDCE030}"/>
              </a:ext>
            </a:extLst>
          </p:cNvPr>
          <p:cNvSpPr/>
          <p:nvPr/>
        </p:nvSpPr>
        <p:spPr>
          <a:xfrm>
            <a:off x="483080" y="2038186"/>
            <a:ext cx="11295308" cy="440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F3A7FD2-6231-680D-0705-1AC3C8A91AC0}"/>
              </a:ext>
            </a:extLst>
          </p:cNvPr>
          <p:cNvSpPr txBox="1"/>
          <p:nvPr/>
        </p:nvSpPr>
        <p:spPr>
          <a:xfrm>
            <a:off x="5572664" y="2836503"/>
            <a:ext cx="5995359" cy="301621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SOLUÇÃO</a:t>
            </a:r>
          </a:p>
          <a:p>
            <a:pPr algn="ctr"/>
            <a:endParaRPr 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pt-B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Gestão de Inventário</a:t>
            </a: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Evita que a empresa venda produtos que não tem, com um controle rígido de quantidade e avisos automáticos (alertas) quando os produtos chegam no estoque mínimo.</a:t>
            </a:r>
          </a:p>
          <a:p>
            <a:pPr algn="just"/>
            <a:endParaRPr lang="pt-B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pt-B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Gestão de Vendas (Pedidos):</a:t>
            </a: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Centraliza as vendas, vinculando os produtos aos clientes, abatendo o estoque automaticamente de forma transacional e gerando recibos em PDF.</a:t>
            </a:r>
          </a:p>
          <a:p>
            <a:pPr algn="just"/>
            <a:endParaRPr lang="pt-B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pt-B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Relatórios:</a:t>
            </a: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Permite que o dono do negócio tome decisões baseadas em dados (quais produtos estão em falta, histórico de clientes, </a:t>
            </a:r>
            <a:r>
              <a:rPr lang="pt-BR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C0F4B95-13F6-906E-AFA0-D5B3A7EDC20B}"/>
              </a:ext>
            </a:extLst>
          </p:cNvPr>
          <p:cNvSpPr txBox="1"/>
          <p:nvPr/>
        </p:nvSpPr>
        <p:spPr>
          <a:xfrm>
            <a:off x="748772" y="2836503"/>
            <a:ext cx="4392571" cy="312393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>
              <a:defRPr sz="1600" b="1">
                <a:solidFill>
                  <a:srgbClr val="991B1B"/>
                </a:solidFill>
                <a:latin typeface="Georgia"/>
              </a:defRPr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DESAFIO</a:t>
            </a:r>
          </a:p>
          <a:p>
            <a:pPr>
              <a:defRPr sz="1600" b="1">
                <a:solidFill>
                  <a:srgbClr val="991B1B"/>
                </a:solidFill>
                <a:latin typeface="Georgia"/>
              </a:defRPr>
            </a:pPr>
            <a:endParaRPr lang="pt-B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spcAft>
                <a:spcPts val="10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sz="1300">
                <a:solidFill>
                  <a:srgbClr val="292524"/>
                </a:solidFill>
                <a:latin typeface="Verdana"/>
              </a:defRPr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Dificuldade no gerenciamento integrado de cadastros, vendas e controle de estoque de forma centralizada.</a:t>
            </a:r>
          </a:p>
          <a:p>
            <a:pPr marL="285750" indent="-285750" algn="just">
              <a:spcAft>
                <a:spcPts val="10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sz="1300">
                <a:solidFill>
                  <a:srgbClr val="292524"/>
                </a:solidFill>
                <a:latin typeface="Verdana"/>
              </a:defRPr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Falhas manuais comuns como venda de produtos sem saldo no estoque ou atrasos nos relatórios comerciais.</a:t>
            </a:r>
          </a:p>
          <a:p>
            <a:pPr marL="285750" indent="-285750" algn="just">
              <a:spcAft>
                <a:spcPts val="10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sz="1300">
                <a:solidFill>
                  <a:srgbClr val="292524"/>
                </a:solidFill>
                <a:latin typeface="Verdana"/>
              </a:defRPr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Necessidade de controle de acesso (Administradores vs. Operadores/Vendedores) para garantir segurança operacional.</a:t>
            </a:r>
          </a:p>
          <a:p>
            <a:pPr marL="285750" indent="-285750" algn="just">
              <a:spcAft>
                <a:spcPts val="10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sz="1300">
                <a:solidFill>
                  <a:srgbClr val="292524"/>
                </a:solidFill>
                <a:latin typeface="Verdana"/>
              </a:defRPr>
            </a:pPr>
            <a:endParaRPr lang="pt-B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813A713-5B18-013F-5899-F31882579FE2}"/>
              </a:ext>
            </a:extLst>
          </p:cNvPr>
          <p:cNvSpPr txBox="1"/>
          <p:nvPr/>
        </p:nvSpPr>
        <p:spPr>
          <a:xfrm>
            <a:off x="2820837" y="2138041"/>
            <a:ext cx="6392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QUE O PROJETO BUSCA RESOLVER?</a:t>
            </a:r>
          </a:p>
        </p:txBody>
      </p:sp>
    </p:spTree>
    <p:extLst>
      <p:ext uri="{BB962C8B-B14F-4D97-AF65-F5344CB8AC3E}">
        <p14:creationId xmlns:p14="http://schemas.microsoft.com/office/powerpoint/2010/main" val="2180271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Espaço Reservado para Conteúdo 4" descr="Números Digitais">
            <a:extLst>
              <a:ext uri="{FF2B5EF4-FFF2-40B4-BE49-F238E27FC236}">
                <a16:creationId xmlns:a16="http://schemas.microsoft.com/office/drawing/2014/main" id="{AA8DDF9B-A4AA-A8B4-F5FF-25E17816FB7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422695" y="1880559"/>
            <a:ext cx="11335110" cy="464516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pPr algn="ctr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Apresentação da Arquitetura Spring Boot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EDFF5A3C-261D-D78D-D0DD-5D18FCDE67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788" t="16767" r="31242" b="12327"/>
          <a:stretch>
            <a:fillRect/>
          </a:stretch>
        </p:blipFill>
        <p:spPr>
          <a:xfrm>
            <a:off x="1181686" y="1974437"/>
            <a:ext cx="4180615" cy="4472666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1FBF83E3-8AAE-18ED-53B5-A898C3FC6150}"/>
              </a:ext>
            </a:extLst>
          </p:cNvPr>
          <p:cNvSpPr txBox="1"/>
          <p:nvPr/>
        </p:nvSpPr>
        <p:spPr>
          <a:xfrm>
            <a:off x="6435306" y="2812211"/>
            <a:ext cx="4727276" cy="211852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Controller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recebe requisições.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Service orquestra regras transacionais.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Repository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comunica com o JPA.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Model espelha a base.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Thymeleaf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renderiza as interfaces.</a:t>
            </a:r>
          </a:p>
        </p:txBody>
      </p:sp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DB5EFABC-0FFB-82FB-B0AA-9F469F263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16093"/>
          </a:xfrm>
        </p:spPr>
        <p:txBody>
          <a:bodyPr/>
          <a:lstStyle/>
          <a:p>
            <a:pPr algn="ctr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Demonstração funcional 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59DE0A0E-C715-B4F2-1421-AA87150F77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5513" b="4385"/>
          <a:stretch>
            <a:fillRect/>
          </a:stretch>
        </p:blipFill>
        <p:spPr>
          <a:xfrm>
            <a:off x="445698" y="1897810"/>
            <a:ext cx="11300604" cy="482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739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C06A96-49C5-7A51-8E6F-9598071BE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928770"/>
            <a:ext cx="11029616" cy="721202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Demonstração técnica: modelagem de dados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cap="none" dirty="0">
                <a:latin typeface="Arial" panose="020B0604020202020204" pitchFamily="34" charset="0"/>
                <a:cs typeface="Arial" panose="020B0604020202020204" pitchFamily="34" charset="0"/>
              </a:rPr>
              <a:t>@entity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DD5D51-7AAD-C5B0-3F65-FF764A69C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A53305F-F2FC-1D6F-93F6-87D67E8A1D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533" b="11566"/>
          <a:stretch>
            <a:fillRect/>
          </a:stretch>
        </p:blipFill>
        <p:spPr>
          <a:xfrm>
            <a:off x="448533" y="1840649"/>
            <a:ext cx="11294934" cy="482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136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B9391-3A81-0777-9116-DADDDC22E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EF19C-1537-F0F1-2D6C-AAA671A7F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831553"/>
            <a:ext cx="11029616" cy="721202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Demonstração técnica: Spring data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jpa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cap="none" dirty="0">
                <a:latin typeface="Arial" panose="020B0604020202020204" pitchFamily="34" charset="0"/>
                <a:cs typeface="Arial" panose="020B0604020202020204" pitchFamily="34" charset="0"/>
              </a:rPr>
              <a:t>@repository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929C08E-B77F-A07D-E03F-2E16294D15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2548" b="8032"/>
          <a:stretch>
            <a:fillRect/>
          </a:stretch>
        </p:blipFill>
        <p:spPr>
          <a:xfrm>
            <a:off x="432758" y="1846053"/>
            <a:ext cx="11326483" cy="438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833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EF01E-5D28-7C05-F926-88B8B5778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8FE839-C3D0-4F4B-09F4-71B8C3F69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221" y="857432"/>
            <a:ext cx="11029616" cy="721202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Demonstração técnica: O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transacional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cap="none" dirty="0">
                <a:latin typeface="Arial" panose="020B0604020202020204" pitchFamily="34" charset="0"/>
                <a:cs typeface="Arial" panose="020B0604020202020204" pitchFamily="34" charset="0"/>
              </a:rPr>
              <a:t>@transactional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921AC14-9E59-3BDA-14AC-4DBF03E257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991" b="4282"/>
          <a:stretch>
            <a:fillRect/>
          </a:stretch>
        </p:blipFill>
        <p:spPr>
          <a:xfrm>
            <a:off x="455221" y="1861592"/>
            <a:ext cx="11302583" cy="493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775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532FF-6815-069B-8B56-C3CEE4E74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64335"/>
          </a:xfrm>
        </p:spPr>
        <p:txBody>
          <a:bodyPr/>
          <a:lstStyle/>
          <a:p>
            <a:pPr algn="ctr"/>
            <a:r>
              <a:rPr lang="pt-BR">
                <a:latin typeface="Arial" panose="020B0604020202020204" pitchFamily="34" charset="0"/>
                <a:cs typeface="Arial" panose="020B0604020202020204" pitchFamily="34" charset="0"/>
              </a:rPr>
              <a:t>Modelagem relacional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7D58BB-F731-4B72-83BD-2A9B2A583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6AA1916-64CC-CB69-A92E-D28FB12DD9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918" b="3637"/>
          <a:stretch>
            <a:fillRect/>
          </a:stretch>
        </p:blipFill>
        <p:spPr>
          <a:xfrm>
            <a:off x="451966" y="1853216"/>
            <a:ext cx="11288068" cy="485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599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tâ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3272" y="2164278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rgbClr val="FFFFFF"/>
                </a:solidFill>
              </a:rPr>
              <a:t>Obrigado!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rtl="0"/>
            <a:endParaRPr lang="pt-BR" dirty="0">
              <a:solidFill>
                <a:schemeClr val="bg2"/>
              </a:solidFill>
            </a:endParaRPr>
          </a:p>
          <a:p>
            <a:pPr rtl="0"/>
            <a:endParaRPr lang="pt-BR" dirty="0">
              <a:solidFill>
                <a:schemeClr val="bg2"/>
              </a:solidFill>
            </a:endParaRPr>
          </a:p>
        </p:txBody>
      </p:sp>
      <p:pic>
        <p:nvPicPr>
          <p:cNvPr id="5" name="Imagem 4" descr="Números Digitai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8438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{B51E2431-B1DE-451C-BC06-6F3CB7843A23}TF9cd6fad6-da1d-416b-8dc8-a086cd1045b136a2ac61_win32-213b552fe10f</Template>
  <TotalTime>183</TotalTime>
  <Words>354</Words>
  <Application>Microsoft Office PowerPoint</Application>
  <PresentationFormat>Widescreen</PresentationFormat>
  <Paragraphs>43</Paragraphs>
  <Slides>10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Arial</vt:lpstr>
      <vt:lpstr>Calibri</vt:lpstr>
      <vt:lpstr>Gill Sans MT</vt:lpstr>
      <vt:lpstr>Wingdings</vt:lpstr>
      <vt:lpstr>Wingdings 2</vt:lpstr>
      <vt:lpstr>Personalizado</vt:lpstr>
      <vt:lpstr>Apresentação do PowerPoint</vt:lpstr>
      <vt:lpstr>Projeto 2 – Sistema de Controle de clientes e PEDIDOS</vt:lpstr>
      <vt:lpstr>Projeto 2 – Sistema de Controle de clientes e PEDIDOS</vt:lpstr>
      <vt:lpstr>Apresentação da Arquitetura Spring Boot</vt:lpstr>
      <vt:lpstr>Demonstração funcional </vt:lpstr>
      <vt:lpstr>Demonstração técnica: modelagem de dados @entity</vt:lpstr>
      <vt:lpstr>Demonstração técnica: Spring data jpa @repository</vt:lpstr>
      <vt:lpstr>Demonstração técnica: O service transacional @transactional</vt:lpstr>
      <vt:lpstr>Modelagem relacional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aluno</dc:creator>
  <cp:lastModifiedBy>aluno</cp:lastModifiedBy>
  <cp:revision>9</cp:revision>
  <dcterms:created xsi:type="dcterms:W3CDTF">2026-08-25T17:38:21Z</dcterms:created>
  <dcterms:modified xsi:type="dcterms:W3CDTF">2026-08-25T20:42:12Z</dcterms:modified>
</cp:coreProperties>
</file>