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Arial Bold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A326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27.08.2026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" y="19"/>
            <a:ext cx="18287971" cy="10286981"/>
            <a:chOff x="0" y="0"/>
            <a:chExt cx="24383962" cy="13715975"/>
          </a:xfrm>
        </p:grpSpPr>
        <p:sp>
          <p:nvSpPr>
            <p:cNvPr id="11" name="Freeform 11" descr="Conexões Digitai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937" t="-10007" r="-4207" b="-7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41691" y="1053236"/>
            <a:ext cx="15004609" cy="2691441"/>
            <a:chOff x="0" y="0"/>
            <a:chExt cx="20006145" cy="35885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006183" cy="3588639"/>
            </a:xfrm>
            <a:custGeom>
              <a:avLst/>
              <a:gdLst/>
              <a:ahLst/>
              <a:cxnLst/>
              <a:rect l="l" t="t" r="r" b="b"/>
              <a:pathLst>
                <a:path w="20006183" h="3588639">
                  <a:moveTo>
                    <a:pt x="0" y="0"/>
                  </a:moveTo>
                  <a:lnTo>
                    <a:pt x="20006183" y="0"/>
                  </a:lnTo>
                  <a:lnTo>
                    <a:pt x="20006183" y="3588639"/>
                  </a:lnTo>
                  <a:lnTo>
                    <a:pt x="0" y="3588639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0006145" cy="3607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 dirty="0"/>
            </a:p>
            <a:p>
              <a:pPr algn="ctr">
                <a:lnSpc>
                  <a:spcPts val="6480"/>
                </a:lnSpc>
              </a:pP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Sistema de Controle de </a:t>
              </a:r>
              <a:r>
                <a:rPr lang="en-US" sz="5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5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Pedidos</a:t>
              </a: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(PROTOTECH ERP)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dirty="0" err="1">
                  <a:solidFill>
                    <a:srgbClr val="7CEBFF"/>
                  </a:solidFill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en-US" sz="3000" dirty="0">
                  <a:solidFill>
                    <a:srgbClr val="7CEBFF"/>
                  </a:solidFill>
                  <a:latin typeface="Arial"/>
                  <a:ea typeface="Arial"/>
                  <a:cs typeface="Arial"/>
                  <a:sym typeface="Arial"/>
                </a:rPr>
                <a:t> 2 – Sistemas Computacionais  Web (Spring Boot + MVC)</a:t>
              </a:r>
            </a:p>
            <a:p>
              <a:pPr algn="ctr">
                <a:lnSpc>
                  <a:spcPts val="3600"/>
                </a:lnSpc>
              </a:pPr>
              <a:endParaRPr lang="en-US" sz="3000" dirty="0">
                <a:solidFill>
                  <a:srgbClr val="7CEB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1691" y="6322990"/>
            <a:ext cx="8638232" cy="2631491"/>
            <a:chOff x="0" y="0"/>
            <a:chExt cx="11517643" cy="35086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17630" cy="3508629"/>
            </a:xfrm>
            <a:custGeom>
              <a:avLst/>
              <a:gdLst/>
              <a:ahLst/>
              <a:cxnLst/>
              <a:rect l="l" t="t" r="r" b="b"/>
              <a:pathLst>
                <a:path w="11517630" h="3508629">
                  <a:moveTo>
                    <a:pt x="0" y="0"/>
                  </a:moveTo>
                  <a:lnTo>
                    <a:pt x="11517630" y="0"/>
                  </a:lnTo>
                  <a:lnTo>
                    <a:pt x="11517630" y="3508629"/>
                  </a:lnTo>
                  <a:lnTo>
                    <a:pt x="0" y="3508629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1517643" cy="3527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Instituição: CETAM –Instituto Benjamin Constant (IBC)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Orientador: Prof. Cleverson Silva Sobrinho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Equipe:  Ana Kelley Carril de Paula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     Elano Barros Serrão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     Izhac Nylton Silva Santos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     Victor Emanuel Souza de Oliveira</a:t>
              </a:r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xmlns="" id="{F203A138-98FA-8FC9-FEFD-6DDEFE0DA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69" b="18713"/>
          <a:stretch>
            <a:fillRect/>
          </a:stretch>
        </p:blipFill>
        <p:spPr>
          <a:xfrm>
            <a:off x="7113909" y="4404664"/>
            <a:ext cx="4052657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8969" y="909828"/>
            <a:ext cx="16950052" cy="1888236"/>
            <a:chOff x="0" y="0"/>
            <a:chExt cx="22600069" cy="2517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00031" cy="2517648"/>
            </a:xfrm>
            <a:custGeom>
              <a:avLst/>
              <a:gdLst/>
              <a:ahLst/>
              <a:cxnLst/>
              <a:rect l="l" t="t" r="r" b="b"/>
              <a:pathLst>
                <a:path w="22600031" h="2517648">
                  <a:moveTo>
                    <a:pt x="0" y="0"/>
                  </a:moveTo>
                  <a:lnTo>
                    <a:pt x="22600031" y="0"/>
                  </a:lnTo>
                  <a:lnTo>
                    <a:pt x="22600031" y="2517648"/>
                  </a:lnTo>
                  <a:lnTo>
                    <a:pt x="0" y="2517648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2865" y="3076194"/>
            <a:ext cx="16994724" cy="6514309"/>
            <a:chOff x="0" y="0"/>
            <a:chExt cx="22659632" cy="8685746"/>
          </a:xfrm>
        </p:grpSpPr>
        <p:sp>
          <p:nvSpPr>
            <p:cNvPr id="11" name="Freeform 11" descr="Números Digitais"/>
            <p:cNvSpPr/>
            <p:nvPr/>
          </p:nvSpPr>
          <p:spPr>
            <a:xfrm>
              <a:off x="0" y="0"/>
              <a:ext cx="22659594" cy="8685784"/>
            </a:xfrm>
            <a:custGeom>
              <a:avLst/>
              <a:gdLst/>
              <a:ahLst/>
              <a:cxnLst/>
              <a:rect l="l" t="t" r="r" b="b"/>
              <a:pathLst>
                <a:path w="22659594" h="8685784">
                  <a:moveTo>
                    <a:pt x="0" y="0"/>
                  </a:moveTo>
                  <a:lnTo>
                    <a:pt x="22659594" y="0"/>
                  </a:lnTo>
                  <a:lnTo>
                    <a:pt x="22659594" y="8685784"/>
                  </a:lnTo>
                  <a:lnTo>
                    <a:pt x="0" y="8685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457" r="-10000" b="-710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3159" y="1203388"/>
            <a:ext cx="16544420" cy="916829"/>
            <a:chOff x="0" y="0"/>
            <a:chExt cx="22059227" cy="12224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59232" cy="1222444"/>
            </a:xfrm>
            <a:custGeom>
              <a:avLst/>
              <a:gdLst/>
              <a:ahLst/>
              <a:cxnLst/>
              <a:rect l="l" t="t" r="r" b="b"/>
              <a:pathLst>
                <a:path w="22059232" h="1222444">
                  <a:moveTo>
                    <a:pt x="0" y="0"/>
                  </a:moveTo>
                  <a:lnTo>
                    <a:pt x="22059232" y="0"/>
                  </a:lnTo>
                  <a:lnTo>
                    <a:pt x="22059232" y="1222444"/>
                  </a:lnTo>
                  <a:lnTo>
                    <a:pt x="0" y="1222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1611" b="-30161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059227" cy="12414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535"/>
                </a:lnSpc>
              </a:pPr>
              <a:r>
                <a:rPr lang="en-US" sz="377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en-US" sz="377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2 – Sistema de Controle de </a:t>
              </a:r>
              <a:r>
                <a:rPr lang="en-US" sz="377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377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377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Pedidos</a:t>
              </a:r>
              <a:endParaRPr lang="en-US" sz="377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70136" y="4038362"/>
            <a:ext cx="14792573" cy="3393234"/>
            <a:chOff x="0" y="0"/>
            <a:chExt cx="19723430" cy="45243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723481" cy="4524375"/>
            </a:xfrm>
            <a:custGeom>
              <a:avLst/>
              <a:gdLst/>
              <a:ahLst/>
              <a:cxnLst/>
              <a:rect l="l" t="t" r="r" b="b"/>
              <a:pathLst>
                <a:path w="19723481" h="4524375">
                  <a:moveTo>
                    <a:pt x="0" y="0"/>
                  </a:moveTo>
                  <a:lnTo>
                    <a:pt x="19723481" y="0"/>
                  </a:lnTo>
                  <a:lnTo>
                    <a:pt x="19723481" y="4524375"/>
                  </a:lnTo>
                  <a:lnTo>
                    <a:pt x="0" y="4524375"/>
                  </a:lnTo>
                  <a:close/>
                </a:path>
              </a:pathLst>
            </a:custGeom>
            <a:solidFill>
              <a:srgbClr val="1A326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9723430" cy="455288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4320"/>
                </a:lnSpc>
              </a:pPr>
              <a:r>
                <a:rPr lang="en-US" sz="3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 Bold"/>
                  <a:ea typeface="Arial Bold"/>
                  <a:cs typeface="Arial Bold"/>
                  <a:sym typeface="Arial Bold"/>
                </a:rPr>
                <a:t>O QUE É PROTOTECH?</a:t>
              </a:r>
            </a:p>
            <a:p>
              <a:pPr algn="just">
                <a:lnSpc>
                  <a:spcPts val="3240"/>
                </a:lnSpc>
              </a:pPr>
              <a:endPara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just">
                <a:lnSpc>
                  <a:spcPts val="4860"/>
                </a:lnSpc>
              </a:pPr>
              <a:r>
                <a:rPr lang="en-US" sz="27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	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"/>
                  <a:cs typeface="Arial Bold"/>
                  <a:sym typeface="Arial Bold"/>
                </a:rPr>
                <a:t>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ProtoTech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é um Sistema de Software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Integrado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Vendas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e Controle de Estoque (ERP). O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principal dele é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digitalizar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automatizar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o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fluxo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ponta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ponta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uma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pequena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média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empresa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.</a:t>
              </a:r>
            </a:p>
            <a:p>
              <a:pPr algn="just">
                <a:lnSpc>
                  <a:spcPts val="3240"/>
                </a:lnSpc>
              </a:pPr>
              <a:endParaRPr lang="en-US" sz="27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xmlns="" id="{F8688F66-4486-0CCA-A66D-ADCFB90E5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0183" b="20186"/>
          <a:stretch>
            <a:fillRect/>
          </a:stretch>
        </p:blipFill>
        <p:spPr>
          <a:xfrm>
            <a:off x="13865181" y="1506112"/>
            <a:ext cx="2697528" cy="695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8969" y="909828"/>
            <a:ext cx="16950052" cy="1888236"/>
            <a:chOff x="0" y="0"/>
            <a:chExt cx="22600069" cy="2517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00031" cy="2517648"/>
            </a:xfrm>
            <a:custGeom>
              <a:avLst/>
              <a:gdLst/>
              <a:ahLst/>
              <a:cxnLst/>
              <a:rect l="l" t="t" r="r" b="b"/>
              <a:pathLst>
                <a:path w="22600031" h="2517648">
                  <a:moveTo>
                    <a:pt x="0" y="0"/>
                  </a:moveTo>
                  <a:lnTo>
                    <a:pt x="22600031" y="0"/>
                  </a:lnTo>
                  <a:lnTo>
                    <a:pt x="22600031" y="2517648"/>
                  </a:lnTo>
                  <a:lnTo>
                    <a:pt x="0" y="2517648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3159" y="1203388"/>
            <a:ext cx="16544420" cy="916829"/>
            <a:chOff x="0" y="0"/>
            <a:chExt cx="22059227" cy="12224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222444"/>
            </a:xfrm>
            <a:custGeom>
              <a:avLst/>
              <a:gdLst/>
              <a:ahLst/>
              <a:cxnLst/>
              <a:rect l="l" t="t" r="r" b="b"/>
              <a:pathLst>
                <a:path w="22059232" h="1222444">
                  <a:moveTo>
                    <a:pt x="0" y="0"/>
                  </a:moveTo>
                  <a:lnTo>
                    <a:pt x="22059232" y="0"/>
                  </a:lnTo>
                  <a:lnTo>
                    <a:pt x="22059232" y="1222444"/>
                  </a:lnTo>
                  <a:lnTo>
                    <a:pt x="0" y="122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611" b="-301610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2414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2 – Sistema de Controle de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Pedidos</a:t>
              </a:r>
              <a:endParaRPr lang="en-US" sz="3779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2878" y="3071798"/>
            <a:ext cx="16976303" cy="6646688"/>
            <a:chOff x="0" y="0"/>
            <a:chExt cx="22635070" cy="8862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35083" cy="8862187"/>
            </a:xfrm>
            <a:custGeom>
              <a:avLst/>
              <a:gdLst/>
              <a:ahLst/>
              <a:cxnLst/>
              <a:rect l="l" t="t" r="r" b="b"/>
              <a:pathLst>
                <a:path w="22635083" h="8862187">
                  <a:moveTo>
                    <a:pt x="0" y="0"/>
                  </a:moveTo>
                  <a:lnTo>
                    <a:pt x="22635083" y="0"/>
                  </a:lnTo>
                  <a:lnTo>
                    <a:pt x="22635083" y="8862187"/>
                  </a:lnTo>
                  <a:lnTo>
                    <a:pt x="0" y="8862187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050F24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43868" y="3857616"/>
            <a:ext cx="9214687" cy="5572120"/>
            <a:chOff x="-191588" y="-386722"/>
            <a:chExt cx="12190999" cy="64190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90705" cy="6032373"/>
            </a:xfrm>
            <a:custGeom>
              <a:avLst/>
              <a:gdLst/>
              <a:ahLst/>
              <a:cxnLst/>
              <a:rect l="l" t="t" r="r" b="b"/>
              <a:pathLst>
                <a:path w="11990705" h="6032373">
                  <a:moveTo>
                    <a:pt x="0" y="0"/>
                  </a:moveTo>
                  <a:lnTo>
                    <a:pt x="11990705" y="0"/>
                  </a:lnTo>
                  <a:lnTo>
                    <a:pt x="11990705" y="6032373"/>
                  </a:lnTo>
                  <a:lnTo>
                    <a:pt x="0" y="603237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191588" y="-386722"/>
              <a:ext cx="12190999" cy="608568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endParaRPr lang="en-US" sz="2400" b="1" dirty="0" smtClean="0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2879"/>
                </a:lnSpc>
              </a:pPr>
              <a:r>
                <a:rPr lang="en-US" sz="2400" b="1" dirty="0" smtClean="0">
                  <a:solidFill>
                    <a:srgbClr val="00B05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SOLUÇÃO</a:t>
              </a:r>
            </a:p>
            <a:p>
              <a:pPr algn="ctr">
                <a:lnSpc>
                  <a:spcPts val="2879"/>
                </a:lnSpc>
              </a:pPr>
              <a:endParaRPr lang="en-US" sz="2400" b="1" dirty="0" smtClean="0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lvl="1" indent="-457200" algn="just">
                <a:lnSpc>
                  <a:spcPts val="2879"/>
                </a:lnSpc>
                <a:buFont typeface="Arial" pitchFamily="34" charset="0"/>
                <a:buChar char="•"/>
              </a:pPr>
              <a:r>
                <a:rPr lang="en-US" sz="2400" b="1" dirty="0" err="1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</a:t>
              </a:r>
              <a:r>
                <a:rPr lang="en-US" sz="24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4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 </a:t>
              </a:r>
              <a:r>
                <a:rPr lang="en-US" sz="2400" b="1" dirty="0" err="1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Vendas</a:t>
              </a:r>
              <a:r>
                <a:rPr lang="en-US" sz="24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(</a:t>
              </a:r>
              <a:r>
                <a:rPr lang="en-US" sz="2400" b="1" dirty="0" err="1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Pedidos</a:t>
              </a:r>
              <a:r>
                <a:rPr lang="en-US" sz="2400" b="1" dirty="0" smtClean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):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Centraliza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as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vinculando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aos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abatendo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o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estoque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automaticamente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forma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transacional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gerando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recibos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PDF.</a:t>
              </a:r>
            </a:p>
            <a:p>
              <a:pPr algn="ctr">
                <a:lnSpc>
                  <a:spcPts val="2520"/>
                </a:lnSpc>
              </a:pPr>
              <a:endParaRPr lang="en-US" sz="2400" b="1" dirty="0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4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</a:t>
              </a:r>
              <a:r>
                <a:rPr lang="en-US" sz="24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4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Inventário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: Evita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empresa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não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tem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com um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rígido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quantidade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avisos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automáticos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alertas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quando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chegam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no estoque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mínimo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380048" lvl="1" indent="-190024" algn="just">
                <a:lnSpc>
                  <a:spcPts val="2520"/>
                </a:lnSpc>
              </a:pPr>
              <a:endPara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4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Relatórios</a:t>
              </a:r>
              <a:r>
                <a:rPr lang="en-US" sz="24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: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Permite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o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dono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do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negócio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tome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decisões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baseadas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dados (quais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estão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falta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histórico de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etc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</a:p>
            <a:p>
              <a:pPr marL="380048" lvl="1" indent="-190024" algn="l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3159" y="4254751"/>
            <a:ext cx="6588852" cy="4685900"/>
            <a:chOff x="0" y="0"/>
            <a:chExt cx="8785136" cy="62478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85098" cy="6247892"/>
            </a:xfrm>
            <a:custGeom>
              <a:avLst/>
              <a:gdLst/>
              <a:ahLst/>
              <a:cxnLst/>
              <a:rect l="l" t="t" r="r" b="b"/>
              <a:pathLst>
                <a:path w="8785098" h="6247892">
                  <a:moveTo>
                    <a:pt x="0" y="0"/>
                  </a:moveTo>
                  <a:lnTo>
                    <a:pt x="8785098" y="0"/>
                  </a:lnTo>
                  <a:lnTo>
                    <a:pt x="8785098" y="6247892"/>
                  </a:lnTo>
                  <a:lnTo>
                    <a:pt x="0" y="6247892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8785136" cy="625739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DESAFIO</a:t>
              </a:r>
            </a:p>
            <a:p>
              <a:pPr algn="l">
                <a:lnSpc>
                  <a:spcPts val="2520"/>
                </a:lnSpc>
              </a:pPr>
              <a:endParaRPr lang="en-US" sz="24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Dificuldade no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gerenciamento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integrado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cadastros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controle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estoque de forma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centralizada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endPara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Falhas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manuais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comuns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sem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saldo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no estoque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atrasos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relatórios</a:t>
              </a:r>
              <a:r>
                <a:rPr lang="en-US" sz="24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comerciais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380048" lvl="1" indent="-190024" algn="just">
                <a:lnSpc>
                  <a:spcPts val="2520"/>
                </a:lnSpc>
              </a:pPr>
              <a:endParaRPr lang="en-US" sz="2400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 pitchFamily="34" charset="0"/>
                <a:buChar char="•"/>
              </a:pP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Falta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inteligencia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gerencial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( O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dono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loja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precisa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visão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estratégica</a:t>
              </a:r>
              <a:r>
                <a:rPr lang="en-US" sz="2400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322693" y="3224203"/>
            <a:ext cx="940538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old"/>
                <a:ea typeface="Arial Bold"/>
                <a:cs typeface="Arial Bold"/>
                <a:sym typeface="Arial Bold"/>
              </a:rPr>
              <a:t>O QUE O PROJETO BUSCA RESOLVER?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4041" y="2820838"/>
            <a:ext cx="17002668" cy="6967747"/>
            <a:chOff x="0" y="0"/>
            <a:chExt cx="22670224" cy="9290329"/>
          </a:xfrm>
        </p:grpSpPr>
        <p:sp>
          <p:nvSpPr>
            <p:cNvPr id="11" name="Freeform 11" descr="Números Digitais"/>
            <p:cNvSpPr/>
            <p:nvPr/>
          </p:nvSpPr>
          <p:spPr>
            <a:xfrm>
              <a:off x="0" y="0"/>
              <a:ext cx="22670263" cy="9290304"/>
            </a:xfrm>
            <a:custGeom>
              <a:avLst/>
              <a:gdLst/>
              <a:ahLst/>
              <a:cxnLst/>
              <a:rect l="l" t="t" r="r" b="b"/>
              <a:pathLst>
                <a:path w="22670263" h="9290304">
                  <a:moveTo>
                    <a:pt x="0" y="0"/>
                  </a:moveTo>
                  <a:lnTo>
                    <a:pt x="22670263" y="0"/>
                  </a:lnTo>
                  <a:lnTo>
                    <a:pt x="22670263" y="9290304"/>
                  </a:lnTo>
                  <a:lnTo>
                    <a:pt x="0" y="929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135" r="-9999" b="-6001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1785" y="1053236"/>
            <a:ext cx="16544420" cy="1520704"/>
            <a:chOff x="0" y="0"/>
            <a:chExt cx="22059227" cy="2027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59232" cy="2027600"/>
            </a:xfrm>
            <a:custGeom>
              <a:avLst/>
              <a:gdLst/>
              <a:ahLst/>
              <a:cxnLst/>
              <a:rect l="l" t="t" r="r" b="b"/>
              <a:pathLst>
                <a:path w="22059232" h="2027600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1986" b="-16198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059227" cy="2046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Apresentação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da </a:t>
              </a: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Arquitetura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Spring Boot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29651" y="2818781"/>
            <a:ext cx="6556677" cy="6994750"/>
            <a:chOff x="0" y="0"/>
            <a:chExt cx="8742236" cy="93263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42172" cy="9326372"/>
            </a:xfrm>
            <a:custGeom>
              <a:avLst/>
              <a:gdLst/>
              <a:ahLst/>
              <a:cxnLst/>
              <a:rect l="l" t="t" r="r" b="b"/>
              <a:pathLst>
                <a:path w="8742172" h="9326372">
                  <a:moveTo>
                    <a:pt x="0" y="0"/>
                  </a:moveTo>
                  <a:lnTo>
                    <a:pt x="8742172" y="0"/>
                  </a:lnTo>
                  <a:lnTo>
                    <a:pt x="8742172" y="9326372"/>
                  </a:lnTo>
                  <a:lnTo>
                    <a:pt x="0" y="932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5983" t="-23727" r="-84507" b="-1778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52959" y="4218318"/>
            <a:ext cx="7090915" cy="3177797"/>
            <a:chOff x="0" y="0"/>
            <a:chExt cx="9454553" cy="42370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54515" cy="4237101"/>
            </a:xfrm>
            <a:custGeom>
              <a:avLst/>
              <a:gdLst/>
              <a:ahLst/>
              <a:cxnLst/>
              <a:rect l="l" t="t" r="r" b="b"/>
              <a:pathLst>
                <a:path w="9454515" h="4237101">
                  <a:moveTo>
                    <a:pt x="0" y="0"/>
                  </a:moveTo>
                  <a:lnTo>
                    <a:pt x="9454515" y="0"/>
                  </a:lnTo>
                  <a:lnTo>
                    <a:pt x="9454515" y="4237101"/>
                  </a:lnTo>
                  <a:lnTo>
                    <a:pt x="0" y="4237101"/>
                  </a:lnTo>
                  <a:close/>
                </a:path>
              </a:pathLst>
            </a:custGeom>
            <a:solidFill>
              <a:srgbClr val="1A326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71450"/>
              <a:ext cx="9454553" cy="440851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Controller recebe requisições.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Service orquestra regras transacionais.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Repository comunica com o JPA.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Model espelha a base. 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Thymeleaf renderiza as interfaces.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8028" y="1138360"/>
            <a:ext cx="16544420" cy="1350448"/>
            <a:chOff x="0" y="0"/>
            <a:chExt cx="22059227" cy="1800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Técnica: Model</a:t>
              </a:r>
            </a:p>
            <a:p>
              <a:pPr algn="ctr">
                <a:lnSpc>
                  <a:spcPts val="4535"/>
                </a:lnSpc>
              </a:pP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@Entity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2798" y="2760974"/>
            <a:ext cx="16942403" cy="7241353"/>
            <a:chOff x="0" y="0"/>
            <a:chExt cx="22589871" cy="96551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89871" cy="9655175"/>
            </a:xfrm>
            <a:custGeom>
              <a:avLst/>
              <a:gdLst/>
              <a:ahLst/>
              <a:cxnLst/>
              <a:rect l="l" t="t" r="r" b="b"/>
              <a:pathLst>
                <a:path w="22589871" h="9655175">
                  <a:moveTo>
                    <a:pt x="0" y="0"/>
                  </a:moveTo>
                  <a:lnTo>
                    <a:pt x="22589871" y="0"/>
                  </a:lnTo>
                  <a:lnTo>
                    <a:pt x="22589871" y="9655175"/>
                  </a:lnTo>
                  <a:lnTo>
                    <a:pt x="0" y="9655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349" r="-11141" b="-1678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4880" y="1138360"/>
            <a:ext cx="16544420" cy="1350448"/>
            <a:chOff x="0" y="0"/>
            <a:chExt cx="22059227" cy="1800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Técnica: Service</a:t>
              </a:r>
            </a:p>
            <a:p>
              <a:pPr algn="ctr">
                <a:lnSpc>
                  <a:spcPts val="4535"/>
                </a:lnSpc>
              </a:pP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@Transactional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2828" y="2792387"/>
            <a:ext cx="16953871" cy="7404040"/>
            <a:chOff x="0" y="0"/>
            <a:chExt cx="22605162" cy="98720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05112" cy="9872091"/>
            </a:xfrm>
            <a:custGeom>
              <a:avLst/>
              <a:gdLst/>
              <a:ahLst/>
              <a:cxnLst/>
              <a:rect l="l" t="t" r="r" b="b"/>
              <a:pathLst>
                <a:path w="22605112" h="9872091">
                  <a:moveTo>
                    <a:pt x="0" y="0"/>
                  </a:moveTo>
                  <a:lnTo>
                    <a:pt x="22605112" y="0"/>
                  </a:lnTo>
                  <a:lnTo>
                    <a:pt x="22605112" y="9872091"/>
                  </a:lnTo>
                  <a:lnTo>
                    <a:pt x="0" y="987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158" b="-864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3BD62A-2F89-6BF9-4FD0-2965D1D2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0">
            <a:extLst>
              <a:ext uri="{FF2B5EF4-FFF2-40B4-BE49-F238E27FC236}">
                <a16:creationId xmlns:a16="http://schemas.microsoft.com/office/drawing/2014/main" xmlns="" id="{39195C3E-AFEA-4085-A79B-BF07E19CFB9D}"/>
              </a:ext>
            </a:extLst>
          </p:cNvPr>
          <p:cNvGrpSpPr/>
          <p:nvPr/>
        </p:nvGrpSpPr>
        <p:grpSpPr>
          <a:xfrm>
            <a:off x="654177" y="2798863"/>
            <a:ext cx="16964025" cy="6916637"/>
            <a:chOff x="-53315" y="-154396"/>
            <a:chExt cx="22659595" cy="9093200"/>
          </a:xfrm>
        </p:grpSpPr>
        <p:sp>
          <p:nvSpPr>
            <p:cNvPr id="19" name="Freeform 11" descr="Números Digitais">
              <a:extLst>
                <a:ext uri="{FF2B5EF4-FFF2-40B4-BE49-F238E27FC236}">
                  <a16:creationId xmlns:a16="http://schemas.microsoft.com/office/drawing/2014/main" xmlns="" id="{9B4AFE63-0616-9059-9CFE-BF45C45DF118}"/>
                </a:ext>
              </a:extLst>
            </p:cNvPr>
            <p:cNvSpPr/>
            <p:nvPr/>
          </p:nvSpPr>
          <p:spPr>
            <a:xfrm>
              <a:off x="-53315" y="-154396"/>
              <a:ext cx="22659595" cy="9093200"/>
            </a:xfrm>
            <a:custGeom>
              <a:avLst/>
              <a:gdLst/>
              <a:ahLst/>
              <a:cxnLst/>
              <a:rect l="l" t="t" r="r" b="b"/>
              <a:pathLst>
                <a:path w="22659594" h="8685784">
                  <a:moveTo>
                    <a:pt x="0" y="0"/>
                  </a:moveTo>
                  <a:lnTo>
                    <a:pt x="22659594" y="0"/>
                  </a:lnTo>
                  <a:lnTo>
                    <a:pt x="22659594" y="8685784"/>
                  </a:lnTo>
                  <a:lnTo>
                    <a:pt x="0" y="8685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457" r="-10000" b="-710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36D07CD6-FADD-E0F1-E702-D76EFE1E288F}"/>
              </a:ext>
            </a:extLst>
          </p:cNvPr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E37D6332-B6A2-94A0-FA26-7033DA7B3D68}"/>
                </a:ext>
              </a:extLst>
            </p:cNvPr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xmlns="" id="{FEED5BB5-A83E-2967-3D88-51F5D6251619}"/>
              </a:ext>
            </a:extLst>
          </p:cNvPr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97BDA975-B35B-B4D4-EE84-3891D1A6FF32}"/>
                </a:ext>
              </a:extLst>
            </p:cNvPr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CBFFC66D-1FD4-5CF3-B9B3-6AA056ADC777}"/>
              </a:ext>
            </a:extLst>
          </p:cNvPr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19CA20E1-D86A-971D-8D2D-E80A7D497F61}"/>
                </a:ext>
              </a:extLst>
            </p:cNvPr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314FAD37-010D-B08A-4EC4-4B0C2FEC616C}"/>
              </a:ext>
            </a:extLst>
          </p:cNvPr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6287172-534D-2A73-CE95-33319C49750B}"/>
                </a:ext>
              </a:extLst>
            </p:cNvPr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B7EC9ED2-08C3-F633-9262-46C234279C86}"/>
              </a:ext>
            </a:extLst>
          </p:cNvPr>
          <p:cNvGrpSpPr/>
          <p:nvPr/>
        </p:nvGrpSpPr>
        <p:grpSpPr>
          <a:xfrm>
            <a:off x="714880" y="1124072"/>
            <a:ext cx="16544423" cy="1364738"/>
            <a:chOff x="0" y="-19050"/>
            <a:chExt cx="22059231" cy="181965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D2285584-2A53-27F2-1E81-38093938FFB3}"/>
                </a:ext>
              </a:extLst>
            </p:cNvPr>
            <p:cNvSpPr/>
            <p:nvPr/>
          </p:nvSpPr>
          <p:spPr>
            <a:xfrm>
              <a:off x="9787432" y="1"/>
              <a:ext cx="12271799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pPr algn="ctr"/>
              <a:r>
                <a:rPr lang="pt-BR" sz="378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Gerenciamento do Fluxo MVC: </a:t>
              </a:r>
            </a:p>
            <a:p>
              <a:pPr algn="ctr"/>
              <a:r>
                <a:rPr lang="pt-BR" sz="378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@controller 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E08227E-74A0-D657-186C-06008C6FA68C}"/>
                </a:ext>
              </a:extLst>
            </p:cNvPr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endParaRPr lang="en-US" sz="377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24804D3A-5670-5F0B-3EC3-979C99815142}"/>
              </a:ext>
            </a:extLst>
          </p:cNvPr>
          <p:cNvSpPr txBox="1"/>
          <p:nvPr/>
        </p:nvSpPr>
        <p:spPr>
          <a:xfrm>
            <a:off x="9533001" y="3278159"/>
            <a:ext cx="5791200" cy="595804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Responsável por capturar a requisição HTTP (GET/POST), intermediar com o Service e renderizar a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endParaRPr lang="pt-BR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Mapeia URLs e injeta coleções de dados nas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usando o objeto Model (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model.addAttribute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endParaRPr lang="pt-BR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Intermedeia o ciclo completo: Navegador -&gt;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Service -&gt;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Banco -&gt;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(HTML).</a:t>
            </a:r>
          </a:p>
          <a:p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xmlns="" id="{857E6190-522C-24B1-3BBE-297C2C4100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266" t="5457" r="6033" b="5966"/>
          <a:stretch>
            <a:fillRect/>
          </a:stretch>
        </p:blipFill>
        <p:spPr>
          <a:xfrm>
            <a:off x="1219200" y="962898"/>
            <a:ext cx="7346827" cy="879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6945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8028" y="1138360"/>
            <a:ext cx="16544420" cy="1350448"/>
            <a:chOff x="0" y="0"/>
            <a:chExt cx="22059227" cy="1800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técnica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: Repository (Spring data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jpa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  <a:p>
              <a:pPr algn="ctr">
                <a:lnSpc>
                  <a:spcPts val="4535"/>
                </a:lnSpc>
              </a:pP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@Repository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9138" y="2769079"/>
            <a:ext cx="16989723" cy="6582813"/>
            <a:chOff x="0" y="0"/>
            <a:chExt cx="22652965" cy="87770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52989" cy="8777097"/>
            </a:xfrm>
            <a:custGeom>
              <a:avLst/>
              <a:gdLst/>
              <a:ahLst/>
              <a:cxnLst/>
              <a:rect l="l" t="t" r="r" b="b"/>
              <a:pathLst>
                <a:path w="22652989" h="8777097">
                  <a:moveTo>
                    <a:pt x="0" y="0"/>
                  </a:moveTo>
                  <a:lnTo>
                    <a:pt x="22652989" y="0"/>
                  </a:lnTo>
                  <a:lnTo>
                    <a:pt x="22652989" y="8777097"/>
                  </a:lnTo>
                  <a:lnTo>
                    <a:pt x="0" y="8777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2480" b="-1157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1785" y="1053236"/>
            <a:ext cx="16544420" cy="1146505"/>
            <a:chOff x="0" y="0"/>
            <a:chExt cx="22059227" cy="1528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528670"/>
            </a:xfrm>
            <a:custGeom>
              <a:avLst/>
              <a:gdLst/>
              <a:ahLst/>
              <a:cxnLst/>
              <a:rect l="l" t="t" r="r" b="b"/>
              <a:pathLst>
                <a:path w="22059232" h="1528670">
                  <a:moveTo>
                    <a:pt x="0" y="0"/>
                  </a:moveTo>
                  <a:lnTo>
                    <a:pt x="22059232" y="0"/>
                  </a:lnTo>
                  <a:lnTo>
                    <a:pt x="22059232" y="1528670"/>
                  </a:lnTo>
                  <a:lnTo>
                    <a:pt x="0" y="15286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1175" b="-23117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5477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040"/>
                </a:lnSpc>
              </a:pP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Modelagem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Relacional</a:t>
              </a:r>
              <a:endParaRPr lang="en-US" sz="4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7951" y="2779824"/>
            <a:ext cx="16932107" cy="7289397"/>
            <a:chOff x="0" y="0"/>
            <a:chExt cx="22576142" cy="97191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76155" cy="9719183"/>
            </a:xfrm>
            <a:custGeom>
              <a:avLst/>
              <a:gdLst/>
              <a:ahLst/>
              <a:cxnLst/>
              <a:rect l="l" t="t" r="r" b="b"/>
              <a:pathLst>
                <a:path w="22576155" h="9719183">
                  <a:moveTo>
                    <a:pt x="0" y="0"/>
                  </a:moveTo>
                  <a:lnTo>
                    <a:pt x="22576155" y="0"/>
                  </a:lnTo>
                  <a:lnTo>
                    <a:pt x="22576155" y="9719183"/>
                  </a:lnTo>
                  <a:lnTo>
                    <a:pt x="0" y="9719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5451" b="-1419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1785" y="1053236"/>
            <a:ext cx="16544420" cy="1224143"/>
            <a:chOff x="0" y="0"/>
            <a:chExt cx="22059227" cy="16321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632186"/>
            </a:xfrm>
            <a:custGeom>
              <a:avLst/>
              <a:gdLst/>
              <a:ahLst/>
              <a:cxnLst/>
              <a:rect l="l" t="t" r="r" b="b"/>
              <a:pathLst>
                <a:path w="22059232" h="1632186">
                  <a:moveTo>
                    <a:pt x="0" y="0"/>
                  </a:moveTo>
                  <a:lnTo>
                    <a:pt x="22059232" y="0"/>
                  </a:lnTo>
                  <a:lnTo>
                    <a:pt x="22059232" y="1632186"/>
                  </a:lnTo>
                  <a:lnTo>
                    <a:pt x="0" y="1632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342" b="-213343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65124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040"/>
                </a:lnSpc>
              </a:pP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Funcional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8550" y="2846718"/>
            <a:ext cx="16950909" cy="7233247"/>
            <a:chOff x="0" y="0"/>
            <a:chExt cx="22601212" cy="96443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01174" cy="9644380"/>
            </a:xfrm>
            <a:custGeom>
              <a:avLst/>
              <a:gdLst/>
              <a:ahLst/>
              <a:cxnLst/>
              <a:rect l="l" t="t" r="r" b="b"/>
              <a:pathLst>
                <a:path w="22601174" h="9644380">
                  <a:moveTo>
                    <a:pt x="0" y="0"/>
                  </a:moveTo>
                  <a:lnTo>
                    <a:pt x="22601174" y="0"/>
                  </a:lnTo>
                  <a:lnTo>
                    <a:pt x="22601174" y="9644380"/>
                  </a:lnTo>
                  <a:lnTo>
                    <a:pt x="0" y="964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90" b="-1050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9798" y="4628645"/>
            <a:ext cx="16894302" cy="4957201"/>
            <a:chOff x="0" y="0"/>
            <a:chExt cx="22525736" cy="66096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525737" cy="6609588"/>
            </a:xfrm>
            <a:custGeom>
              <a:avLst/>
              <a:gdLst/>
              <a:ahLst/>
              <a:cxnLst/>
              <a:rect l="l" t="t" r="r" b="b"/>
              <a:pathLst>
                <a:path w="22525737" h="6609588">
                  <a:moveTo>
                    <a:pt x="0" y="0"/>
                  </a:moveTo>
                  <a:lnTo>
                    <a:pt x="22525737" y="0"/>
                  </a:lnTo>
                  <a:lnTo>
                    <a:pt x="22525737" y="6609588"/>
                  </a:lnTo>
                  <a:lnTo>
                    <a:pt x="0" y="6609588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1921" y="1080516"/>
            <a:ext cx="5672179" cy="8499996"/>
            <a:chOff x="0" y="0"/>
            <a:chExt cx="7406640" cy="113333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06640" cy="11333353"/>
            </a:xfrm>
            <a:custGeom>
              <a:avLst/>
              <a:gdLst/>
              <a:ahLst/>
              <a:cxnLst/>
              <a:rect l="l" t="t" r="r" b="b"/>
              <a:pathLst>
                <a:path w="7406640" h="11333353">
                  <a:moveTo>
                    <a:pt x="0" y="0"/>
                  </a:moveTo>
                  <a:lnTo>
                    <a:pt x="7406640" y="0"/>
                  </a:lnTo>
                  <a:lnTo>
                    <a:pt x="7406640" y="11333353"/>
                  </a:lnTo>
                  <a:lnTo>
                    <a:pt x="0" y="1133335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69798" y="680466"/>
            <a:ext cx="16948404" cy="147828"/>
          </a:xfrm>
          <a:custGeom>
            <a:avLst/>
            <a:gdLst/>
            <a:ahLst/>
            <a:cxnLst/>
            <a:rect l="l" t="t" r="r" b="b"/>
            <a:pathLst>
              <a:path w="16948404" h="147828">
                <a:moveTo>
                  <a:pt x="0" y="0"/>
                </a:moveTo>
                <a:lnTo>
                  <a:pt x="16948404" y="0"/>
                </a:lnTo>
                <a:lnTo>
                  <a:pt x="16948404" y="147828"/>
                </a:lnTo>
                <a:lnTo>
                  <a:pt x="0" y="147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/>
          <p:nvPr/>
        </p:nvGrpSpPr>
        <p:grpSpPr>
          <a:xfrm>
            <a:off x="12589907" y="3246415"/>
            <a:ext cx="4622368" cy="2620147"/>
            <a:chOff x="0" y="0"/>
            <a:chExt cx="6163158" cy="34935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3152" cy="3493524"/>
            </a:xfrm>
            <a:custGeom>
              <a:avLst/>
              <a:gdLst/>
              <a:ahLst/>
              <a:cxnLst/>
              <a:rect l="l" t="t" r="r" b="b"/>
              <a:pathLst>
                <a:path w="6163152" h="3493524">
                  <a:moveTo>
                    <a:pt x="0" y="0"/>
                  </a:moveTo>
                  <a:lnTo>
                    <a:pt x="6163152" y="0"/>
                  </a:lnTo>
                  <a:lnTo>
                    <a:pt x="6163152" y="3493524"/>
                  </a:lnTo>
                  <a:lnTo>
                    <a:pt x="0" y="34935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727" r="-2272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6163158" cy="35983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480"/>
                </a:lnSpc>
              </a:pPr>
              <a:r>
                <a:rPr lang="en-US" sz="5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Gill Sans Light"/>
                  <a:ea typeface="Gill Sans Light"/>
                  <a:cs typeface="Gill Sans Light"/>
                  <a:sym typeface="Gill Sans Light"/>
                </a:rPr>
                <a:t>Obrigado</a:t>
              </a: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Gill Sans Light"/>
                  <a:ea typeface="Gill Sans Light"/>
                  <a:cs typeface="Gill Sans Light"/>
                  <a:sym typeface="Gill Sans Light"/>
                </a:rPr>
                <a:t>!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9798" y="1085850"/>
            <a:ext cx="11247920" cy="8515350"/>
            <a:chOff x="0" y="0"/>
            <a:chExt cx="14997227" cy="11353800"/>
          </a:xfrm>
        </p:grpSpPr>
        <p:sp>
          <p:nvSpPr>
            <p:cNvPr id="17" name="Freeform 17" descr="Números Digitais"/>
            <p:cNvSpPr/>
            <p:nvPr/>
          </p:nvSpPr>
          <p:spPr>
            <a:xfrm>
              <a:off x="0" y="0"/>
              <a:ext cx="14997176" cy="11353800"/>
            </a:xfrm>
            <a:custGeom>
              <a:avLst/>
              <a:gdLst/>
              <a:ahLst/>
              <a:cxnLst/>
              <a:rect l="l" t="t" r="r" b="b"/>
              <a:pathLst>
                <a:path w="14997176" h="11353800">
                  <a:moveTo>
                    <a:pt x="0" y="0"/>
                  </a:moveTo>
                  <a:lnTo>
                    <a:pt x="14997176" y="0"/>
                  </a:lnTo>
                  <a:lnTo>
                    <a:pt x="14997176" y="11353800"/>
                  </a:lnTo>
                  <a:lnTo>
                    <a:pt x="0" y="1135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82" r="-10936" b="-9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375</Words>
  <Application>Microsoft Office PowerPoint</Application>
  <PresentationFormat>Personalizar</PresentationFormat>
  <Paragraphs>64</Paragraphs>
  <Slides>11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Arial Bold</vt:lpstr>
      <vt:lpstr>Gill Sans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Apresentacao.pptx</dc:title>
  <cp:lastModifiedBy>Ana Kelley Carril de Paula</cp:lastModifiedBy>
  <cp:revision>10</cp:revision>
  <dcterms:created xsi:type="dcterms:W3CDTF">2006-08-16T00:00:00Z</dcterms:created>
  <dcterms:modified xsi:type="dcterms:W3CDTF">2026-08-27T14:14:08Z</dcterms:modified>
  <dc:identifier>DAHTWEwSssE</dc:identifier>
</cp:coreProperties>
</file>